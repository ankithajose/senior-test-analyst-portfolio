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59" d="100"/>
          <a:sy n="59" d="100"/>
        </p:scale>
        <p:origin x="236" y="4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Selenium Basics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04657" y="3097925"/>
            <a:ext cx="6672943" cy="2871076"/>
          </a:xfrm>
        </p:spPr>
        <p:txBody>
          <a:bodyPr>
            <a:normAutofit fontScale="92500"/>
          </a:bodyPr>
          <a:lstStyle/>
          <a:p>
            <a:r>
              <a:rPr lang="en-US" dirty="0"/>
              <a:t>✅ What Selenium is</a:t>
            </a:r>
            <a:br>
              <a:rPr lang="en-US" dirty="0"/>
            </a:br>
            <a:r>
              <a:rPr lang="en-US" dirty="0"/>
              <a:t>✅ Why it’s used</a:t>
            </a:r>
            <a:br>
              <a:rPr lang="en-US" dirty="0"/>
            </a:br>
            <a:r>
              <a:rPr lang="en-US" dirty="0"/>
              <a:t>✅ What WebDriver is</a:t>
            </a:r>
            <a:br>
              <a:rPr lang="en-US" dirty="0"/>
            </a:br>
            <a:r>
              <a:rPr lang="en-US" dirty="0"/>
              <a:t>✅ WebDriver Architecture (in very simple flow)</a:t>
            </a:r>
            <a:br>
              <a:rPr lang="en-US" dirty="0"/>
            </a:br>
            <a:r>
              <a:rPr lang="en-US" dirty="0"/>
              <a:t>✅ How browser actually works behind the scenes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9AF1-6299-054D-DC57-56F34EF7701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97829" y="783771"/>
            <a:ext cx="6879771" cy="5937704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👉 What is Selenium?</a:t>
            </a:r>
          </a:p>
          <a:p>
            <a:r>
              <a:rPr lang="en-US" b="1" dirty="0"/>
              <a:t>Selenium is a tool used to automate web browsers.</a:t>
            </a:r>
            <a:endParaRPr lang="en-US" dirty="0"/>
          </a:p>
          <a:p>
            <a:r>
              <a:rPr lang="en-US" dirty="0"/>
              <a:t>Instead of you manually: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opening browser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clicking buttons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typing username/password</a:t>
            </a:r>
          </a:p>
          <a:p>
            <a:r>
              <a:rPr lang="en-US" dirty="0"/>
              <a:t>👉 Selenium does it automatically using code.</a:t>
            </a:r>
          </a:p>
          <a:p>
            <a:r>
              <a:rPr lang="en-US" dirty="0" err="1"/>
              <a:t>driver.get</a:t>
            </a:r>
            <a:r>
              <a:rPr lang="en-US" dirty="0"/>
              <a:t>("https://site.com");</a:t>
            </a:r>
          </a:p>
          <a:p>
            <a:r>
              <a:rPr lang="en-US" dirty="0" err="1"/>
              <a:t>driver.findElement</a:t>
            </a:r>
            <a:r>
              <a:rPr lang="en-US" dirty="0"/>
              <a:t>(By.id("user")).</a:t>
            </a:r>
            <a:r>
              <a:rPr lang="en-US" dirty="0" err="1"/>
              <a:t>sendKeys</a:t>
            </a:r>
            <a:r>
              <a:rPr lang="en-US" dirty="0"/>
              <a:t>("Anki");</a:t>
            </a:r>
          </a:p>
          <a:p>
            <a:r>
              <a:rPr lang="en-US" dirty="0" err="1"/>
              <a:t>driver.findElement</a:t>
            </a:r>
            <a:r>
              <a:rPr lang="en-US" dirty="0"/>
              <a:t>(By.id("login")).click();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DE4BE-A072-ECB4-C0D6-4AD0B50B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C26C-44EF-884B-739E-1B91FFEA2C5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1886" y="261257"/>
            <a:ext cx="7075714" cy="6357257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Selenium has 4 main parts:</a:t>
            </a:r>
          </a:p>
          <a:p>
            <a:r>
              <a:rPr lang="en-AU" dirty="0"/>
              <a:t>1️⃣ Selenium WebDriver (MOST USED)</a:t>
            </a:r>
            <a:br>
              <a:rPr lang="en-AU" dirty="0"/>
            </a:br>
            <a:r>
              <a:rPr lang="en-AU" dirty="0"/>
              <a:t>2️⃣ Selenium IDE (record/playback)</a:t>
            </a:r>
            <a:br>
              <a:rPr lang="en-AU" dirty="0"/>
            </a:br>
            <a:r>
              <a:rPr lang="en-AU" dirty="0"/>
              <a:t>3️⃣ Selenium Grid (parallel execution)</a:t>
            </a:r>
            <a:br>
              <a:rPr lang="en-AU" dirty="0"/>
            </a:br>
            <a:r>
              <a:rPr lang="en-AU" dirty="0"/>
              <a:t>4️⃣ Selenium RC (old – not used now)</a:t>
            </a:r>
          </a:p>
          <a:p>
            <a:r>
              <a:rPr lang="en-AU" dirty="0"/>
              <a:t>👉 In jobs, we mainly use </a:t>
            </a:r>
            <a:r>
              <a:rPr lang="en-AU" b="1" dirty="0"/>
              <a:t>WebDriver</a:t>
            </a:r>
            <a:endParaRPr lang="en-AU" dirty="0"/>
          </a:p>
          <a:p>
            <a:r>
              <a:rPr lang="en-AU" b="1" dirty="0"/>
              <a:t>What is WebDriver?</a:t>
            </a:r>
          </a:p>
          <a:p>
            <a:r>
              <a:rPr lang="en-US" dirty="0"/>
              <a:t>👉 WebDriver is an </a:t>
            </a:r>
            <a:r>
              <a:rPr lang="en-US" b="1" dirty="0"/>
              <a:t>interface (API)</a:t>
            </a:r>
            <a:r>
              <a:rPr lang="en-US" dirty="0"/>
              <a:t> that controls browser.</a:t>
            </a:r>
          </a:p>
          <a:p>
            <a:r>
              <a:rPr lang="en-AU" b="1" dirty="0" err="1"/>
              <a:t>driver.get</a:t>
            </a:r>
            <a:r>
              <a:rPr lang="en-AU" b="1" dirty="0"/>
              <a:t>("https://google.com");</a:t>
            </a:r>
          </a:p>
          <a:p>
            <a:r>
              <a:rPr lang="en-AU" dirty="0"/>
              <a:t>Means</a:t>
            </a:r>
          </a:p>
          <a:p>
            <a:r>
              <a:rPr lang="en-AU" dirty="0"/>
              <a:t>👉 “Hey browser, open Google!”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06D5A-D88C-DB27-EA66-4FB7FD88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5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43E5-1B4D-1DF8-1B82-C35568061B9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56314" y="136525"/>
            <a:ext cx="7021286" cy="5831891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WebDriver Architecture</a:t>
            </a:r>
          </a:p>
          <a:p>
            <a:r>
              <a:rPr lang="en-AU" dirty="0"/>
              <a:t>Your Test Script (Java)</a:t>
            </a:r>
          </a:p>
          <a:p>
            <a:r>
              <a:rPr lang="en-AU" dirty="0"/>
              <a:t>        |</a:t>
            </a:r>
          </a:p>
          <a:p>
            <a:r>
              <a:rPr lang="en-AU" dirty="0"/>
              <a:t>        v</a:t>
            </a:r>
          </a:p>
          <a:p>
            <a:r>
              <a:rPr lang="en-AU" dirty="0"/>
              <a:t>Selenium WebDriver API</a:t>
            </a:r>
          </a:p>
          <a:p>
            <a:r>
              <a:rPr lang="en-AU" dirty="0"/>
              <a:t>        |</a:t>
            </a:r>
          </a:p>
          <a:p>
            <a:r>
              <a:rPr lang="en-AU" dirty="0"/>
              <a:t>        v</a:t>
            </a:r>
          </a:p>
          <a:p>
            <a:r>
              <a:rPr lang="en-AU" dirty="0"/>
              <a:t>Browser Driver (EdgeDriver.exe)</a:t>
            </a:r>
          </a:p>
          <a:p>
            <a:r>
              <a:rPr lang="en-AU" dirty="0"/>
              <a:t>        |</a:t>
            </a:r>
          </a:p>
          <a:p>
            <a:r>
              <a:rPr lang="en-AU" dirty="0"/>
              <a:t>        v</a:t>
            </a:r>
          </a:p>
          <a:p>
            <a:r>
              <a:rPr lang="en-AU" dirty="0"/>
              <a:t>Real Browser (Edge)</a:t>
            </a:r>
          </a:p>
          <a:p>
            <a:endParaRPr lang="en-US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7B39-399A-8BBF-2AA7-116BD94C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5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6197D-837B-4517-52E3-8F912B543A0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1886" y="76201"/>
            <a:ext cx="6640285" cy="7064828"/>
          </a:xfrm>
        </p:spPr>
        <p:txBody>
          <a:bodyPr/>
          <a:lstStyle/>
          <a:p>
            <a:r>
              <a:rPr lang="en-AU" dirty="0"/>
              <a:t>🔍 </a:t>
            </a:r>
            <a:r>
              <a:rPr lang="en-AU" b="1" dirty="0"/>
              <a:t>What each does:</a:t>
            </a:r>
          </a:p>
          <a:p>
            <a:pPr marL="457200" indent="-457200">
              <a:buAutoNum type="arabicPeriod"/>
            </a:pPr>
            <a:r>
              <a:rPr lang="en-AU" sz="1800" dirty="0"/>
              <a:t>This is your code: </a:t>
            </a:r>
            <a:r>
              <a:rPr lang="en-US" sz="1800" dirty="0" err="1"/>
              <a:t>driver.findElement</a:t>
            </a:r>
            <a:r>
              <a:rPr lang="en-US" sz="1800" dirty="0"/>
              <a:t>(By.id("login")).click();</a:t>
            </a:r>
          </a:p>
          <a:p>
            <a:r>
              <a:rPr lang="en-AU" sz="1800" dirty="0"/>
              <a:t>2.  WebDriver API : </a:t>
            </a:r>
            <a:r>
              <a:rPr lang="en-US" sz="1800" dirty="0"/>
              <a:t>It understands Selenium commands like:</a:t>
            </a:r>
          </a:p>
          <a:p>
            <a:r>
              <a:rPr lang="en-US" sz="1800" dirty="0"/>
              <a:t>click()</a:t>
            </a:r>
          </a:p>
          <a:p>
            <a:r>
              <a:rPr lang="en-US" sz="1800" dirty="0" err="1"/>
              <a:t>sendKeys</a:t>
            </a:r>
            <a:r>
              <a:rPr lang="en-US" sz="1800" dirty="0"/>
              <a:t>()</a:t>
            </a:r>
          </a:p>
          <a:p>
            <a:r>
              <a:rPr lang="en-US" sz="1800" dirty="0"/>
              <a:t>get()</a:t>
            </a:r>
          </a:p>
          <a:p>
            <a:r>
              <a:rPr lang="en-US" sz="1800" dirty="0"/>
              <a:t>And passes them forward.</a:t>
            </a:r>
          </a:p>
          <a:p>
            <a:r>
              <a:rPr lang="en-US" sz="1800" dirty="0"/>
              <a:t>3. Each browser has its own driver: 👉 This driver acts as a </a:t>
            </a:r>
            <a:r>
              <a:rPr lang="en-US" sz="1800" b="1" dirty="0"/>
              <a:t>translator</a:t>
            </a:r>
            <a:r>
              <a:rPr lang="en-US" sz="1800" dirty="0"/>
              <a:t>.</a:t>
            </a:r>
          </a:p>
          <a:p>
            <a:r>
              <a:rPr lang="en-US" sz="1800" dirty="0"/>
              <a:t>It converts Selenium commands into browser-understandable instructions.</a:t>
            </a:r>
          </a:p>
          <a:p>
            <a:endParaRPr lang="en-US" sz="1800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D9BF7-D461-6629-B711-2212E707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143661-F06B-586F-2418-C7BC437BE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77627"/>
              </p:ext>
            </p:extLst>
          </p:nvPr>
        </p:nvGraphicFramePr>
        <p:xfrm>
          <a:off x="4354286" y="5258435"/>
          <a:ext cx="6487886" cy="1463040"/>
        </p:xfrm>
        <a:graphic>
          <a:graphicData uri="http://schemas.openxmlformats.org/drawingml/2006/table">
            <a:tbl>
              <a:tblPr/>
              <a:tblGrid>
                <a:gridCol w="3243943">
                  <a:extLst>
                    <a:ext uri="{9D8B030D-6E8A-4147-A177-3AD203B41FA5}">
                      <a16:colId xmlns:a16="http://schemas.microsoft.com/office/drawing/2014/main" val="6686539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1087373811"/>
                    </a:ext>
                  </a:extLst>
                </a:gridCol>
              </a:tblGrid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04062905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Chrome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 err="1"/>
                        <a:t>ChromeDriver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3129704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 err="1"/>
                        <a:t>EdgeDriver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65792017"/>
                  </a:ext>
                </a:extLst>
              </a:tr>
              <a:tr h="31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Firefox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 err="1"/>
                        <a:t>GeckoDriver</a:t>
                      </a:r>
                      <a:endParaRPr lang="en-A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75061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19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5979-D086-28F0-E806-6213E2CC381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30486" y="283029"/>
            <a:ext cx="6847114" cy="6335485"/>
          </a:xfrm>
        </p:spPr>
        <p:txBody>
          <a:bodyPr>
            <a:normAutofit/>
          </a:bodyPr>
          <a:lstStyle/>
          <a:p>
            <a:r>
              <a:rPr lang="en-AU" b="1" dirty="0"/>
              <a:t>Real Browser</a:t>
            </a:r>
          </a:p>
          <a:p>
            <a:r>
              <a:rPr lang="en-AU" dirty="0"/>
              <a:t>Finally:</a:t>
            </a:r>
          </a:p>
          <a:p>
            <a:r>
              <a:rPr lang="en-AU" dirty="0"/>
              <a:t>✔ Browser opens</a:t>
            </a:r>
            <a:br>
              <a:rPr lang="en-AU" dirty="0"/>
            </a:br>
            <a:r>
              <a:rPr lang="en-AU" dirty="0"/>
              <a:t>✔ Button clicks</a:t>
            </a:r>
            <a:br>
              <a:rPr lang="en-AU" dirty="0"/>
            </a:br>
            <a:r>
              <a:rPr lang="en-AU" dirty="0"/>
              <a:t>✔ Text types</a:t>
            </a:r>
          </a:p>
          <a:p>
            <a:r>
              <a:rPr lang="en-US" dirty="0"/>
              <a:t>👉 </a:t>
            </a:r>
            <a:r>
              <a:rPr lang="en-US" sz="2000" b="1" dirty="0"/>
              <a:t>“Explain Selenium WebDriver architecture”</a:t>
            </a:r>
          </a:p>
          <a:p>
            <a:r>
              <a:rPr lang="en-US" dirty="0"/>
              <a:t>Selenium test scripts communicate with WebDriver API, which sends commands to browser-specific drivers like </a:t>
            </a:r>
            <a:r>
              <a:rPr lang="en-US" dirty="0" err="1"/>
              <a:t>EdgeDriver</a:t>
            </a:r>
            <a:r>
              <a:rPr lang="en-US" dirty="0"/>
              <a:t> or </a:t>
            </a:r>
            <a:r>
              <a:rPr lang="en-US" dirty="0" err="1"/>
              <a:t>ChromeDriver</a:t>
            </a:r>
            <a:r>
              <a:rPr lang="en-US" dirty="0"/>
              <a:t>. These drivers then interact with the real browser to perform actions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5C18B-E83D-3BA8-3C2A-334B56C5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0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 lnSpcReduction="10000"/>
          </a:bodyPr>
          <a:lstStyle/>
          <a:p>
            <a:r>
              <a:rPr lang="en-US" dirty="0"/>
              <a:t>Brita Tamm​</a:t>
            </a:r>
          </a:p>
          <a:p>
            <a:r>
              <a:rPr lang="en-US" dirty="0"/>
              <a:t>502-555-0152​</a:t>
            </a:r>
          </a:p>
          <a:p>
            <a:r>
              <a:rPr lang="en-US" dirty="0"/>
              <a:t>brita@firstupconsultants.com​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{58134E3A-A7FD-453E-9414-65445E009BC5}TF55c86556-70ea-476e-aa05-13a38f2d5b0da1381d77_win32-a3c664429073</Template>
  <TotalTime>13</TotalTime>
  <Words>383</Words>
  <Application>Microsoft Office PowerPoint</Application>
  <PresentationFormat>Widescreen</PresentationFormat>
  <Paragraphs>70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Custom</vt:lpstr>
      <vt:lpstr>Selenium Basics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Ankitha Jose</dc:creator>
  <cp:lastModifiedBy>Ankitha Jose</cp:lastModifiedBy>
  <cp:revision>1</cp:revision>
  <dcterms:created xsi:type="dcterms:W3CDTF">2026-01-25T12:50:50Z</dcterms:created>
  <dcterms:modified xsi:type="dcterms:W3CDTF">2026-01-25T13:04:01Z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